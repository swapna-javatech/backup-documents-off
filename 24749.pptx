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57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Spring Security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Spring Security Fundamentals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607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authentication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(who I am)</a:t>
            </a:r>
          </a:p>
          <a:p>
            <a:r>
              <a:rPr lang="en-US" sz="2400" dirty="0" smtClean="0"/>
              <a:t>authorization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(what I can do)</a:t>
            </a:r>
          </a:p>
          <a:p>
            <a:r>
              <a:rPr lang="en-US" sz="2400" dirty="0" smtClean="0"/>
              <a:t>encryption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55839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69988"/>
            <a:ext cx="8596668" cy="41713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used by a server when it needs to know exactly who is accessing their information</a:t>
            </a:r>
          </a:p>
          <a:p>
            <a:r>
              <a:rPr lang="en-US" sz="2400" dirty="0" smtClean="0"/>
              <a:t>usually, authentication entails the use of a user name and password, other ways to authenticate can be through cards, voice recognition and fingerprints</a:t>
            </a:r>
          </a:p>
          <a:p>
            <a:r>
              <a:rPr lang="en-US" sz="2400" dirty="0" smtClean="0"/>
              <a:t>does not determine what tasks a user can do or what files he can see, it just identifies and verifies who the person is</a:t>
            </a:r>
          </a:p>
          <a:p>
            <a:r>
              <a:rPr lang="en-US" sz="2400" dirty="0" smtClean="0"/>
              <a:t>should be used whenever you want to know exactly who is using or viewing your site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77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06362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defines a process by which a server determines if the client has permission to use a resource or access a file</a:t>
            </a:r>
          </a:p>
          <a:p>
            <a:r>
              <a:rPr lang="en-US" sz="2400" dirty="0" smtClean="0"/>
              <a:t>usually coupled with authentication so that the server has some concept of who the client is that is requesting access</a:t>
            </a:r>
          </a:p>
          <a:p>
            <a:r>
              <a:rPr lang="en-US" sz="2400" dirty="0" smtClean="0"/>
              <a:t>should be used whenever you want to control viewer access of certain pages</a:t>
            </a:r>
          </a:p>
          <a:p>
            <a:r>
              <a:rPr lang="en-US" sz="2400" dirty="0" smtClean="0"/>
              <a:t>in some cases, there is no authorization, any user can use a resource or access a file simply by asking for 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133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06362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process of transforming data so that it is unreadable by anyone who does not have a decryption key</a:t>
            </a:r>
          </a:p>
          <a:p>
            <a:r>
              <a:rPr lang="en-US" sz="2400" dirty="0" smtClean="0"/>
              <a:t>https protocol is usually used in encryption processes</a:t>
            </a:r>
          </a:p>
          <a:p>
            <a:r>
              <a:rPr lang="en-US" sz="2400" dirty="0" smtClean="0"/>
              <a:t>by encrypting the data exchanged between the client and server information can be sent over the Internet with less risk of being intercepted during transit</a:t>
            </a:r>
          </a:p>
          <a:p>
            <a:r>
              <a:rPr lang="en-US" sz="2400" dirty="0" smtClean="0"/>
              <a:t>should be used whenever people are giving out personal information to register for something or buy a product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404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Maven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spring-security-web</a:t>
            </a:r>
            <a:br>
              <a:rPr lang="en-US" sz="2400" dirty="0" smtClean="0"/>
            </a:br>
            <a:r>
              <a:rPr lang="en-US" sz="2400" dirty="0" smtClean="0"/>
              <a:t>(</a:t>
            </a:r>
            <a:r>
              <a:rPr lang="en-US" sz="2400" dirty="0" err="1" smtClean="0"/>
              <a:t>groupId</a:t>
            </a:r>
            <a:r>
              <a:rPr lang="en-US" sz="2400" dirty="0" smtClean="0"/>
              <a:t>: </a:t>
            </a:r>
            <a:r>
              <a:rPr lang="en-US" sz="2400" dirty="0" err="1" smtClean="0"/>
              <a:t>org.springframework.security</a:t>
            </a:r>
            <a:r>
              <a:rPr lang="en-US" sz="2400" dirty="0" smtClean="0"/>
              <a:t>)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spring-security-</a:t>
            </a:r>
            <a:r>
              <a:rPr lang="en-US" sz="2400" dirty="0" err="1" smtClean="0"/>
              <a:t>config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(</a:t>
            </a:r>
            <a:r>
              <a:rPr lang="en-US" sz="2400" dirty="0" err="1" smtClean="0"/>
              <a:t>groupId</a:t>
            </a:r>
            <a:r>
              <a:rPr lang="en-US" sz="2400" dirty="0" smtClean="0"/>
              <a:t>: </a:t>
            </a:r>
            <a:r>
              <a:rPr lang="en-US" sz="2400" dirty="0" err="1" smtClean="0"/>
              <a:t>org.springframework.security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5122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configuration additions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define a filter</a:t>
            </a:r>
            <a:br>
              <a:rPr lang="en-US" sz="2400" dirty="0" smtClean="0"/>
            </a:br>
            <a:r>
              <a:rPr lang="en-US" sz="2400" dirty="0" err="1" smtClean="0">
                <a:solidFill>
                  <a:schemeClr val="accent2"/>
                </a:solidFill>
              </a:rPr>
              <a:t>org.springframework.web.filter.DelegatingFilterProxy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define a listener</a:t>
            </a:r>
            <a:br>
              <a:rPr lang="en-US" sz="2400" dirty="0" smtClean="0"/>
            </a:br>
            <a:r>
              <a:rPr lang="en-US" sz="2400" dirty="0" err="1" smtClean="0">
                <a:solidFill>
                  <a:schemeClr val="accent2"/>
                </a:solidFill>
              </a:rPr>
              <a:t>org.springframework.web.context.ContextLoaderListener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context-</a:t>
            </a:r>
            <a:r>
              <a:rPr lang="en-US" sz="2400" dirty="0" err="1" smtClean="0"/>
              <a:t>param</a:t>
            </a:r>
            <a:r>
              <a:rPr lang="en-US" sz="2400" dirty="0" smtClean="0"/>
              <a:t>: </a:t>
            </a:r>
            <a:r>
              <a:rPr lang="en-US" sz="2400" dirty="0" err="1" smtClean="0">
                <a:solidFill>
                  <a:schemeClr val="accent2"/>
                </a:solidFill>
              </a:rPr>
              <a:t>contextConfigLocation</a:t>
            </a:r>
            <a:r>
              <a:rPr lang="en-US" sz="2400" dirty="0" smtClean="0"/>
              <a:t> points to security-config.xml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932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Minimal security configuration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354603"/>
            <a:ext cx="8824852" cy="28007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auto-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="true"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intercept-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="/**"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access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="ROLE_USER"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authentication-manager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authentication-provider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user-service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="john"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="123"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authorities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="ROLE_USER"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&lt;/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user-service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authentication-provider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authentication-manager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344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create two tables</a:t>
            </a:r>
            <a:br>
              <a:rPr lang="en-US" sz="2400" dirty="0" smtClean="0"/>
            </a:br>
            <a:r>
              <a:rPr lang="en-US" sz="2400" dirty="0" smtClean="0"/>
              <a:t>users (fields: username, password, enabled)</a:t>
            </a:r>
            <a:br>
              <a:rPr lang="en-US" sz="2400" dirty="0" smtClean="0"/>
            </a:br>
            <a:r>
              <a:rPr lang="en-US" sz="2400" dirty="0" smtClean="0"/>
              <a:t>authorities (fields: username, authority)</a:t>
            </a:r>
          </a:p>
          <a:p>
            <a:r>
              <a:rPr lang="en-US" sz="2400" dirty="0" smtClean="0"/>
              <a:t>create a user and his rights</a:t>
            </a:r>
            <a:br>
              <a:rPr lang="en-US" sz="2400" dirty="0" smtClean="0"/>
            </a:br>
            <a:r>
              <a:rPr lang="en-US" sz="2400" dirty="0" smtClean="0"/>
              <a:t>insert some data into the tables</a:t>
            </a:r>
          </a:p>
          <a:p>
            <a:r>
              <a:rPr lang="en-US" sz="2400" dirty="0" smtClean="0"/>
              <a:t>change “user-service” to “</a:t>
            </a:r>
            <a:r>
              <a:rPr lang="en-US" sz="2400" dirty="0" err="1" smtClean="0"/>
              <a:t>jdbc</a:t>
            </a:r>
            <a:r>
              <a:rPr lang="en-US" sz="2400" dirty="0" smtClean="0"/>
              <a:t>-user-service” in the security-config.xml</a:t>
            </a:r>
          </a:p>
        </p:txBody>
      </p:sp>
    </p:spTree>
    <p:extLst>
      <p:ext uri="{BB962C8B-B14F-4D97-AF65-F5344CB8AC3E}">
        <p14:creationId xmlns:p14="http://schemas.microsoft.com/office/powerpoint/2010/main" val="310898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Spring Security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library needs to be included in your </a:t>
            </a:r>
            <a:r>
              <a:rPr lang="en-US" sz="2400" dirty="0" err="1" smtClean="0"/>
              <a:t>jsp</a:t>
            </a:r>
            <a:r>
              <a:rPr lang="en-US" sz="2400" dirty="0" smtClean="0"/>
              <a:t> page:</a:t>
            </a:r>
            <a:br>
              <a:rPr lang="en-US" sz="2400" dirty="0" smtClean="0"/>
            </a:br>
            <a:r>
              <a:rPr lang="en-US" sz="2400" dirty="0" smtClean="0"/>
              <a:t>&lt;%@ </a:t>
            </a:r>
            <a:r>
              <a:rPr lang="en-US" sz="2400" dirty="0" err="1" smtClean="0"/>
              <a:t>taglib</a:t>
            </a:r>
            <a:r>
              <a:rPr lang="en-US" sz="2400" dirty="0" smtClean="0"/>
              <a:t> prefix=“sec” </a:t>
            </a:r>
            <a:r>
              <a:rPr lang="en-US" sz="2400" dirty="0" err="1" smtClean="0"/>
              <a:t>uri</a:t>
            </a:r>
            <a:r>
              <a:rPr lang="en-US" sz="2400" dirty="0" smtClean="0"/>
              <a:t>=“http://www.springframework.org/security/tags” %&gt;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tags:</a:t>
            </a:r>
            <a:br>
              <a:rPr lang="en-US" sz="2400" dirty="0" smtClean="0"/>
            </a:br>
            <a:r>
              <a:rPr lang="en-US" sz="2400" dirty="0" smtClean="0"/>
              <a:t>- authentication</a:t>
            </a:r>
            <a:br>
              <a:rPr lang="en-US" sz="2400" dirty="0" smtClean="0"/>
            </a:br>
            <a:r>
              <a:rPr lang="en-US" sz="2400" dirty="0" smtClean="0"/>
              <a:t>- authorization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084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used to gain access to the authenticated user object</a:t>
            </a:r>
          </a:p>
          <a:p>
            <a:r>
              <a:rPr lang="en-US" sz="2400" dirty="0" smtClean="0"/>
              <a:t>has a property attribute for accessing properties of that object</a:t>
            </a:r>
            <a:br>
              <a:rPr lang="en-US" sz="2400" dirty="0" smtClean="0"/>
            </a:br>
            <a:r>
              <a:rPr lang="en-US" sz="2400" dirty="0" smtClean="0"/>
              <a:t>- name</a:t>
            </a:r>
            <a:br>
              <a:rPr lang="en-US" sz="2400" dirty="0" smtClean="0"/>
            </a:br>
            <a:r>
              <a:rPr lang="en-US" sz="2400" dirty="0" smtClean="0"/>
              <a:t>- authorities</a:t>
            </a:r>
            <a:br>
              <a:rPr lang="en-US" sz="2400" dirty="0" smtClean="0"/>
            </a:br>
            <a:r>
              <a:rPr lang="en-US" sz="2400" dirty="0" smtClean="0"/>
              <a:t>- credentials</a:t>
            </a:r>
            <a:br>
              <a:rPr lang="en-US" sz="2400" dirty="0" smtClean="0"/>
            </a:br>
            <a:r>
              <a:rPr lang="en-US" sz="2400" dirty="0" smtClean="0"/>
              <a:t>- details</a:t>
            </a:r>
            <a:br>
              <a:rPr lang="en-US" sz="2400" dirty="0" smtClean="0"/>
            </a:br>
            <a:r>
              <a:rPr lang="en-US" sz="2400" dirty="0" smtClean="0"/>
              <a:t>- principal</a:t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isAuthenticated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3174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Authorize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used to control access to parts of the page</a:t>
            </a:r>
          </a:p>
          <a:p>
            <a:r>
              <a:rPr lang="en-US" sz="2400" dirty="0" smtClean="0"/>
              <a:t>has such attributes:</a:t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url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- method</a:t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var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- access</a:t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ifAnyGranted</a:t>
            </a:r>
            <a:r>
              <a:rPr lang="en-US" sz="2400" dirty="0" smtClean="0"/>
              <a:t> (any of the listed roles must be granted)</a:t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ifAllGranted</a:t>
            </a:r>
            <a:r>
              <a:rPr lang="en-US" sz="2400" dirty="0" smtClean="0"/>
              <a:t> (all the listed roles must be granted)</a:t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ifNotGranted</a:t>
            </a:r>
            <a:r>
              <a:rPr lang="en-US" sz="2400" dirty="0" smtClean="0"/>
              <a:t> (none of the listed roles must be granted)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2308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Password encryption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MD5 hash</a:t>
            </a:r>
          </a:p>
          <a:p>
            <a:r>
              <a:rPr lang="en-US" sz="2400" dirty="0" err="1" smtClean="0"/>
              <a:t>BCrypt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68928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MD5 hash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one of the first hash algorithms</a:t>
            </a:r>
          </a:p>
          <a:p>
            <a:r>
              <a:rPr lang="en-US" sz="2400" dirty="0" smtClean="0"/>
              <a:t>&lt;password-encoder hash=“md5”&gt;</a:t>
            </a:r>
          </a:p>
          <a:p>
            <a:r>
              <a:rPr lang="en-US" sz="2400" dirty="0" smtClean="0"/>
              <a:t>update the database with a new password</a:t>
            </a:r>
          </a:p>
        </p:txBody>
      </p:sp>
    </p:spTree>
    <p:extLst>
      <p:ext uri="{BB962C8B-B14F-4D97-AF65-F5344CB8AC3E}">
        <p14:creationId xmlns:p14="http://schemas.microsoft.com/office/powerpoint/2010/main" val="3657049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BCrypt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more secure than MD5</a:t>
            </a:r>
          </a:p>
          <a:p>
            <a:r>
              <a:rPr lang="en-US" sz="2400" dirty="0" smtClean="0"/>
              <a:t>&lt;password-encoder hash=“</a:t>
            </a:r>
            <a:r>
              <a:rPr lang="en-US" sz="2400" dirty="0" err="1" smtClean="0"/>
              <a:t>bcrypt</a:t>
            </a:r>
            <a:r>
              <a:rPr lang="en-US" sz="2400" dirty="0" smtClean="0"/>
              <a:t>”/&gt;</a:t>
            </a:r>
          </a:p>
          <a:p>
            <a:r>
              <a:rPr lang="en-US" sz="2400" dirty="0" smtClean="0"/>
              <a:t>update the database with a new password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5402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usually used for REST applications</a:t>
            </a:r>
          </a:p>
          <a:p>
            <a:r>
              <a:rPr lang="en-US" sz="2400" dirty="0" smtClean="0"/>
              <a:t>when you enter a </a:t>
            </a:r>
            <a:r>
              <a:rPr lang="en-US" sz="2400" dirty="0" err="1" smtClean="0"/>
              <a:t>url</a:t>
            </a:r>
            <a:r>
              <a:rPr lang="en-US" sz="2400" dirty="0" smtClean="0"/>
              <a:t>, browser will show a popup window</a:t>
            </a:r>
          </a:p>
          <a:p>
            <a:r>
              <a:rPr lang="en-US" sz="2400" dirty="0" smtClean="0"/>
              <a:t>enabled with &lt;http-basic/&gt; tag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1565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login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define an intercept-</a:t>
            </a:r>
            <a:r>
              <a:rPr lang="en-US" sz="2400" dirty="0" err="1" smtClean="0"/>
              <a:t>url</a:t>
            </a:r>
            <a:r>
              <a:rPr lang="en-US" sz="2400" dirty="0" smtClean="0"/>
              <a:t> with access to any user</a:t>
            </a:r>
            <a:br>
              <a:rPr lang="en-US" sz="2400" dirty="0" smtClean="0"/>
            </a:br>
            <a:r>
              <a:rPr lang="en-US" sz="2400" dirty="0" smtClean="0"/>
              <a:t>&lt;intercept-</a:t>
            </a:r>
            <a:r>
              <a:rPr lang="en-US" sz="2400" dirty="0" err="1" smtClean="0"/>
              <a:t>url</a:t>
            </a:r>
            <a:r>
              <a:rPr lang="en-US" sz="2400" dirty="0" smtClean="0"/>
              <a:t> pattern=“/login” access=“IS_AUTHENTICATED_ANONYMOUSLY”/&gt;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add a form-login tag instead of http-basic</a:t>
            </a:r>
            <a:br>
              <a:rPr lang="en-US" sz="2400" dirty="0" smtClean="0"/>
            </a:br>
            <a:r>
              <a:rPr lang="en-US" sz="2400" dirty="0" smtClean="0"/>
              <a:t>&lt;form-login login-page=“/login”/&gt;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add a </a:t>
            </a:r>
            <a:r>
              <a:rPr lang="en-US" sz="2400" dirty="0" err="1" smtClean="0"/>
              <a:t>jsp</a:t>
            </a:r>
            <a:r>
              <a:rPr lang="en-US" sz="2400" dirty="0" smtClean="0"/>
              <a:t> page with a few key points:</a:t>
            </a:r>
            <a:br>
              <a:rPr lang="en-US" sz="2400" dirty="0" smtClean="0"/>
            </a:br>
            <a:r>
              <a:rPr lang="en-US" sz="2400" dirty="0" smtClean="0"/>
              <a:t>- action=“</a:t>
            </a:r>
            <a:r>
              <a:rPr lang="en-US" sz="2400" dirty="0" err="1" smtClean="0"/>
              <a:t>j_spring_security_check</a:t>
            </a:r>
            <a:r>
              <a:rPr lang="en-US" sz="2400" dirty="0" smtClean="0"/>
              <a:t>”</a:t>
            </a:r>
            <a:br>
              <a:rPr lang="en-US" sz="2400" dirty="0" smtClean="0"/>
            </a:br>
            <a:r>
              <a:rPr lang="en-US" sz="2400" dirty="0" smtClean="0"/>
              <a:t>- input with name “</a:t>
            </a:r>
            <a:r>
              <a:rPr lang="en-US" sz="2400" dirty="0" err="1" smtClean="0"/>
              <a:t>j_username</a:t>
            </a:r>
            <a:r>
              <a:rPr lang="en-US" sz="2400" dirty="0" smtClean="0"/>
              <a:t>”</a:t>
            </a:r>
            <a:br>
              <a:rPr lang="en-US" sz="2400" dirty="0" smtClean="0"/>
            </a:br>
            <a:r>
              <a:rPr lang="en-US" sz="2400" dirty="0" smtClean="0"/>
              <a:t>- input with name “</a:t>
            </a:r>
            <a:r>
              <a:rPr lang="en-US" sz="2400" dirty="0" err="1" smtClean="0"/>
              <a:t>j_password</a:t>
            </a:r>
            <a:r>
              <a:rPr lang="en-US" sz="2400" dirty="0" smtClean="0"/>
              <a:t>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2655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76549"/>
            <a:ext cx="8596668" cy="426481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set use-expression to the http tag</a:t>
            </a:r>
            <a:br>
              <a:rPr lang="en-US" sz="2400" dirty="0" smtClean="0"/>
            </a:br>
            <a:r>
              <a:rPr lang="en-US" sz="2400" dirty="0" smtClean="0"/>
              <a:t>&lt;http use-expressions=“true”/&gt;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simplifies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 logic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expressions list:</a:t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hasRole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hasAnyRole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permitAll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/>
              <a:t>hasPermission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69911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2814</TotalTime>
  <Words>401</Words>
  <Application>Microsoft Office PowerPoint</Application>
  <PresentationFormat>Widescreen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Courier New</vt:lpstr>
      <vt:lpstr>Trebuchet MS</vt:lpstr>
      <vt:lpstr>Wingdings 3</vt:lpstr>
      <vt:lpstr>Facet</vt:lpstr>
      <vt:lpstr>Spring Security</vt:lpstr>
      <vt:lpstr>Main concepts</vt:lpstr>
      <vt:lpstr>Authentication</vt:lpstr>
      <vt:lpstr>Authorization</vt:lpstr>
      <vt:lpstr>Encryption</vt:lpstr>
      <vt:lpstr>Maven dependencies</vt:lpstr>
      <vt:lpstr>Web configuration additions</vt:lpstr>
      <vt:lpstr>Minimal security configuration</vt:lpstr>
      <vt:lpstr>Database configuration</vt:lpstr>
      <vt:lpstr>Spring Security tags</vt:lpstr>
      <vt:lpstr>Authentication tag</vt:lpstr>
      <vt:lpstr>Authorize tag</vt:lpstr>
      <vt:lpstr>Password encryption</vt:lpstr>
      <vt:lpstr>MD5 hash</vt:lpstr>
      <vt:lpstr>BCrypt</vt:lpstr>
      <vt:lpstr>Basic authentication</vt:lpstr>
      <vt:lpstr>Custom login form</vt:lpstr>
      <vt:lpstr>Expressions</vt:lpstr>
    </vt:vector>
  </TitlesOfParts>
  <Company>Lohika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Security</dc:title>
  <dc:creator>Stanislav Parkhomenko</dc:creator>
  <cp:lastModifiedBy>Stanislav Parkhomenko</cp:lastModifiedBy>
  <cp:revision>25</cp:revision>
  <dcterms:created xsi:type="dcterms:W3CDTF">2015-11-03T10:08:03Z</dcterms:created>
  <dcterms:modified xsi:type="dcterms:W3CDTF">2015-11-05T09:02:25Z</dcterms:modified>
</cp:coreProperties>
</file>